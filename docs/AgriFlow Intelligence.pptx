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Poppins"/>
      <p:regular r:id="rId15"/>
      <p:bold r:id="rId16"/>
      <p:italic r:id="rId17"/>
      <p:boldItalic r:id="rId18"/>
    </p:embeddedFont>
    <p:embeddedFont>
      <p:font typeface="Lato"/>
      <p:regular r:id="rId19"/>
      <p:bold r:id="rId20"/>
      <p:italic r:id="rId21"/>
      <p:boldItalic r:id="rId22"/>
    </p:embeddedFont>
    <p:embeddedFont>
      <p:font typeface="Poppins SemiBold"/>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22" Type="http://schemas.openxmlformats.org/officeDocument/2006/relationships/font" Target="fonts/Lato-boldItalic.fntdata"/><Relationship Id="rId21" Type="http://schemas.openxmlformats.org/officeDocument/2006/relationships/font" Target="fonts/Lato-italic.fntdata"/><Relationship Id="rId24" Type="http://schemas.openxmlformats.org/officeDocument/2006/relationships/font" Target="fonts/PoppinsSemiBold-bold.fntdata"/><Relationship Id="rId23" Type="http://schemas.openxmlformats.org/officeDocument/2006/relationships/font" Target="fonts/Poppi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SemiBold-boldItalic.fntdata"/><Relationship Id="rId25" Type="http://schemas.openxmlformats.org/officeDocument/2006/relationships/font" Target="fonts/PoppinsSemi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Poppins-regular.fntdata"/><Relationship Id="rId14" Type="http://schemas.openxmlformats.org/officeDocument/2006/relationships/slide" Target="slides/slide9.xml"/><Relationship Id="rId17" Type="http://schemas.openxmlformats.org/officeDocument/2006/relationships/font" Target="fonts/Poppins-italic.fntdata"/><Relationship Id="rId16" Type="http://schemas.openxmlformats.org/officeDocument/2006/relationships/font" Target="fonts/Poppins-bold.fntdata"/><Relationship Id="rId19" Type="http://schemas.openxmlformats.org/officeDocument/2006/relationships/font" Target="fonts/Lato-regular.fntdata"/><Relationship Id="rId18" Type="http://schemas.openxmlformats.org/officeDocument/2006/relationships/font" Target="fonts/Poppi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8.png"/><Relationship Id="rId11" Type="http://schemas.openxmlformats.org/officeDocument/2006/relationships/image" Target="../media/image1.png"/><Relationship Id="rId10" Type="http://schemas.openxmlformats.org/officeDocument/2006/relationships/image" Target="../media/image3.png"/><Relationship Id="rId12" Type="http://schemas.openxmlformats.org/officeDocument/2006/relationships/image" Target="../media/image12.png"/><Relationship Id="rId9"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24.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5.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050494" y="2087463"/>
            <a:ext cx="8091011" cy="785812"/>
          </a:xfrm>
          <a:prstGeom prst="rect">
            <a:avLst/>
          </a:prstGeom>
          <a:noFill/>
          <a:ln>
            <a:noFill/>
          </a:ln>
        </p:spPr>
        <p:txBody>
          <a:bodyPr anchorCtr="0" anchor="t" bIns="0" lIns="0" spcFirstLastPara="1" rIns="0" wrap="square" tIns="0">
            <a:spAutoFit/>
          </a:bodyPr>
          <a:lstStyle/>
          <a:p>
            <a:pPr indent="0" lvl="0" marL="0" marR="0" rtl="0" algn="ctr">
              <a:lnSpc>
                <a:spcPct val="109991"/>
              </a:lnSpc>
              <a:spcBef>
                <a:spcPts val="0"/>
              </a:spcBef>
              <a:spcAft>
                <a:spcPts val="0"/>
              </a:spcAft>
              <a:buNone/>
            </a:pPr>
            <a:r>
              <a:rPr b="1" i="0" lang="en-US" sz="5625" u="none" cap="none" strike="noStrike">
                <a:solidFill>
                  <a:srgbClr val="059669"/>
                </a:solidFill>
                <a:latin typeface="Poppins"/>
                <a:ea typeface="Poppins"/>
                <a:cs typeface="Poppins"/>
                <a:sym typeface="Poppins"/>
              </a:rPr>
              <a:t>AgriFlow Intelligence</a:t>
            </a:r>
            <a:endParaRPr/>
          </a:p>
        </p:txBody>
      </p:sp>
      <p:sp>
        <p:nvSpPr>
          <p:cNvPr id="86" name="Google Shape;86;p13"/>
          <p:cNvSpPr/>
          <p:nvPr/>
        </p:nvSpPr>
        <p:spPr>
          <a:xfrm>
            <a:off x="5715000" y="3159025"/>
            <a:ext cx="762000" cy="3810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2243137" y="3482875"/>
            <a:ext cx="77057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4B5563"/>
                </a:solidFill>
                <a:latin typeface="Lato"/>
                <a:ea typeface="Lato"/>
                <a:cs typeface="Lato"/>
                <a:sym typeface="Lato"/>
              </a:rPr>
              <a:t>End-to-End Automated Agricultural ETL Pipeline</a:t>
            </a:r>
            <a:endParaRPr/>
          </a:p>
        </p:txBody>
      </p:sp>
      <p:sp>
        <p:nvSpPr>
          <p:cNvPr id="88" name="Google Shape;88;p13"/>
          <p:cNvSpPr txBox="1"/>
          <p:nvPr/>
        </p:nvSpPr>
        <p:spPr>
          <a:xfrm>
            <a:off x="2243137" y="4353371"/>
            <a:ext cx="7705725"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350" u="none" cap="none" strike="noStrike">
                <a:solidFill>
                  <a:srgbClr val="6B7280"/>
                </a:solidFill>
                <a:latin typeface="Lato"/>
                <a:ea typeface="Lato"/>
                <a:cs typeface="Lato"/>
                <a:sym typeface="Lato"/>
              </a:rPr>
              <a:t>PRESENTED BY KABELO MODIMOENG | DATA ENGINEER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6381750" y="2014537"/>
            <a:ext cx="5238750" cy="3810000"/>
          </a:xfrm>
          <a:prstGeom prst="rect">
            <a:avLst/>
          </a:prstGeom>
          <a:noFill/>
          <a:ln>
            <a:noFill/>
          </a:ln>
        </p:spPr>
      </p:pic>
      <p:sp>
        <p:nvSpPr>
          <p:cNvPr id="95" name="Google Shape;95;p14"/>
          <p:cNvSpPr txBox="1"/>
          <p:nvPr/>
        </p:nvSpPr>
        <p:spPr>
          <a:xfrm>
            <a:off x="857250" y="2190750"/>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Disconnected Systems:</a:t>
            </a:r>
            <a:r>
              <a:rPr b="0" i="0" lang="en-US" sz="1500" u="none" cap="none" strike="noStrike">
                <a:solidFill>
                  <a:srgbClr val="374151"/>
                </a:solidFill>
                <a:latin typeface="Lato"/>
                <a:ea typeface="Lato"/>
                <a:cs typeface="Lato"/>
                <a:sym typeface="Lato"/>
              </a:rPr>
              <a:t> Internal harvest logs (CSV formats) are completely isolated from external market pricing feeds (JSON APIs).</a:t>
            </a:r>
            <a:endParaRPr/>
          </a:p>
        </p:txBody>
      </p:sp>
      <p:sp>
        <p:nvSpPr>
          <p:cNvPr id="96" name="Google Shape;96;p14"/>
          <p:cNvSpPr txBox="1"/>
          <p:nvPr/>
        </p:nvSpPr>
        <p:spPr>
          <a:xfrm>
            <a:off x="857250" y="3343275"/>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Manual Bottlenecks:</a:t>
            </a:r>
            <a:r>
              <a:rPr b="0" i="0" lang="en-US" sz="1500" u="none" cap="none" strike="noStrike">
                <a:solidFill>
                  <a:srgbClr val="374151"/>
                </a:solidFill>
                <a:latin typeface="Lato"/>
                <a:ea typeface="Lato"/>
                <a:cs typeface="Lato"/>
                <a:sym typeface="Lato"/>
              </a:rPr>
              <a:t> Calculating daily operational profit margins requires tedious manual data matching and complex financial transformations.</a:t>
            </a:r>
            <a:endParaRPr/>
          </a:p>
        </p:txBody>
      </p:sp>
      <p:sp>
        <p:nvSpPr>
          <p:cNvPr id="97" name="Google Shape;97;p14"/>
          <p:cNvSpPr txBox="1"/>
          <p:nvPr/>
        </p:nvSpPr>
        <p:spPr>
          <a:xfrm>
            <a:off x="857250" y="4495800"/>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Lack of Analytics:</a:t>
            </a:r>
            <a:r>
              <a:rPr b="0" i="0" lang="en-US" sz="1500" u="none" cap="none" strike="noStrike">
                <a:solidFill>
                  <a:srgbClr val="374151"/>
                </a:solidFill>
                <a:latin typeface="Lato"/>
                <a:ea typeface="Lato"/>
                <a:cs typeface="Lato"/>
                <a:sym typeface="Lato"/>
              </a:rPr>
              <a:t> Data isn't structured or stored appropriately for business intelligence (BI) integration or historical trend analysis.</a:t>
            </a:r>
            <a:endParaRPr/>
          </a:p>
        </p:txBody>
      </p:sp>
      <p:pic>
        <p:nvPicPr>
          <p:cNvPr descr="image.png" id="98" name="Google Shape;98;p14"/>
          <p:cNvPicPr preferRelativeResize="0"/>
          <p:nvPr/>
        </p:nvPicPr>
        <p:blipFill rotWithShape="1">
          <a:blip r:embed="rId5">
            <a:alphaModFix/>
          </a:blip>
          <a:srcRect b="0" l="0" r="0" t="0"/>
          <a:stretch/>
        </p:blipFill>
        <p:spPr>
          <a:xfrm>
            <a:off x="6381750" y="2014537"/>
            <a:ext cx="5238750" cy="3810000"/>
          </a:xfrm>
          <a:prstGeom prst="rect">
            <a:avLst/>
          </a:prstGeom>
          <a:noFill/>
          <a:ln>
            <a:noFill/>
          </a:ln>
        </p:spPr>
      </p:pic>
      <p:sp>
        <p:nvSpPr>
          <p:cNvPr id="99" name="Google Shape;99;p14"/>
          <p:cNvSpPr txBox="1"/>
          <p:nvPr/>
        </p:nvSpPr>
        <p:spPr>
          <a:xfrm>
            <a:off x="571500" y="2247900"/>
            <a:ext cx="76200" cy="20955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0B981"/>
                </a:solidFill>
                <a:latin typeface="Lato"/>
                <a:ea typeface="Lato"/>
                <a:cs typeface="Lato"/>
                <a:sym typeface="Lato"/>
              </a:rPr>
              <a:t>■</a:t>
            </a:r>
            <a:endParaRPr/>
          </a:p>
        </p:txBody>
      </p:sp>
      <p:sp>
        <p:nvSpPr>
          <p:cNvPr id="100" name="Google Shape;100;p14"/>
          <p:cNvSpPr txBox="1"/>
          <p:nvPr/>
        </p:nvSpPr>
        <p:spPr>
          <a:xfrm>
            <a:off x="571500" y="3400425"/>
            <a:ext cx="76200" cy="20955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0B981"/>
                </a:solidFill>
                <a:latin typeface="Lato"/>
                <a:ea typeface="Lato"/>
                <a:cs typeface="Lato"/>
                <a:sym typeface="Lato"/>
              </a:rPr>
              <a:t>■</a:t>
            </a:r>
            <a:endParaRPr/>
          </a:p>
        </p:txBody>
      </p:sp>
      <p:sp>
        <p:nvSpPr>
          <p:cNvPr id="101" name="Google Shape;101;p14"/>
          <p:cNvSpPr txBox="1"/>
          <p:nvPr/>
        </p:nvSpPr>
        <p:spPr>
          <a:xfrm>
            <a:off x="571500" y="4552950"/>
            <a:ext cx="76200" cy="20955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0B981"/>
                </a:solidFill>
                <a:latin typeface="Lato"/>
                <a:ea typeface="Lato"/>
                <a:cs typeface="Lato"/>
                <a:sym typeface="Lato"/>
              </a:rPr>
              <a:t>■</a:t>
            </a:r>
            <a:endParaRPr/>
          </a:p>
        </p:txBody>
      </p:sp>
      <p:sp>
        <p:nvSpPr>
          <p:cNvPr id="102" name="Google Shape;102;p14"/>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59669"/>
                </a:solidFill>
                <a:latin typeface="Poppins SemiBold"/>
                <a:ea typeface="Poppins SemiBold"/>
                <a:cs typeface="Poppins SemiBold"/>
                <a:sym typeface="Poppins SemiBold"/>
              </a:rPr>
              <a:t>The Business Problem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pic>
        <p:nvPicPr>
          <p:cNvPr descr="image.png" id="107" name="Google Shape;107;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8" name="Google Shape;108;p15"/>
          <p:cNvPicPr preferRelativeResize="0"/>
          <p:nvPr/>
        </p:nvPicPr>
        <p:blipFill rotWithShape="1">
          <a:blip r:embed="rId4">
            <a:alphaModFix/>
          </a:blip>
          <a:srcRect b="0" l="0" r="0" t="0"/>
          <a:stretch/>
        </p:blipFill>
        <p:spPr>
          <a:xfrm>
            <a:off x="571500" y="1771650"/>
            <a:ext cx="3492549" cy="4295775"/>
          </a:xfrm>
          <a:prstGeom prst="rect">
            <a:avLst/>
          </a:prstGeom>
          <a:noFill/>
          <a:ln>
            <a:noFill/>
          </a:ln>
        </p:spPr>
      </p:pic>
      <p:pic>
        <p:nvPicPr>
          <p:cNvPr descr="image.png" id="109" name="Google Shape;109;p15"/>
          <p:cNvPicPr preferRelativeResize="0"/>
          <p:nvPr/>
        </p:nvPicPr>
        <p:blipFill rotWithShape="1">
          <a:blip r:embed="rId5">
            <a:alphaModFix/>
          </a:blip>
          <a:srcRect b="0" l="0" r="0" t="0"/>
          <a:stretch/>
        </p:blipFill>
        <p:spPr>
          <a:xfrm>
            <a:off x="4349799" y="1771650"/>
            <a:ext cx="3492549" cy="4295775"/>
          </a:xfrm>
          <a:prstGeom prst="rect">
            <a:avLst/>
          </a:prstGeom>
          <a:noFill/>
          <a:ln>
            <a:noFill/>
          </a:ln>
        </p:spPr>
      </p:pic>
      <p:pic>
        <p:nvPicPr>
          <p:cNvPr descr="image.png" id="110" name="Google Shape;110;p15"/>
          <p:cNvPicPr preferRelativeResize="0"/>
          <p:nvPr/>
        </p:nvPicPr>
        <p:blipFill rotWithShape="1">
          <a:blip r:embed="rId6">
            <a:alphaModFix/>
          </a:blip>
          <a:srcRect b="0" l="0" r="0" t="0"/>
          <a:stretch/>
        </p:blipFill>
        <p:spPr>
          <a:xfrm>
            <a:off x="8128099" y="1771650"/>
            <a:ext cx="3492549" cy="4295775"/>
          </a:xfrm>
          <a:prstGeom prst="rect">
            <a:avLst/>
          </a:prstGeom>
          <a:noFill/>
          <a:ln>
            <a:noFill/>
          </a:ln>
        </p:spPr>
      </p:pic>
      <p:pic>
        <p:nvPicPr>
          <p:cNvPr descr="image.png" id="111" name="Google Shape;111;p15"/>
          <p:cNvPicPr preferRelativeResize="0"/>
          <p:nvPr/>
        </p:nvPicPr>
        <p:blipFill rotWithShape="1">
          <a:blip r:embed="rId7">
            <a:alphaModFix/>
          </a:blip>
          <a:srcRect b="0" l="0" r="0" t="0"/>
          <a:stretch/>
        </p:blipFill>
        <p:spPr>
          <a:xfrm>
            <a:off x="866775" y="2162175"/>
            <a:ext cx="666750" cy="666750"/>
          </a:xfrm>
          <a:prstGeom prst="rect">
            <a:avLst/>
          </a:prstGeom>
          <a:noFill/>
          <a:ln>
            <a:noFill/>
          </a:ln>
        </p:spPr>
      </p:pic>
      <p:sp>
        <p:nvSpPr>
          <p:cNvPr id="112" name="Google Shape;112;p15"/>
          <p:cNvSpPr txBox="1"/>
          <p:nvPr/>
        </p:nvSpPr>
        <p:spPr>
          <a:xfrm>
            <a:off x="866775" y="3067050"/>
            <a:ext cx="3047099"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59669"/>
                </a:solidFill>
                <a:latin typeface="Poppins SemiBold"/>
                <a:ea typeface="Poppins SemiBold"/>
                <a:cs typeface="Poppins SemiBold"/>
                <a:sym typeface="Poppins SemiBold"/>
              </a:rPr>
              <a:t>Automated Ingestion</a:t>
            </a:r>
            <a:endParaRPr/>
          </a:p>
        </p:txBody>
      </p:sp>
      <p:sp>
        <p:nvSpPr>
          <p:cNvPr id="113" name="Google Shape;113;p15"/>
          <p:cNvSpPr txBox="1"/>
          <p:nvPr/>
        </p:nvSpPr>
        <p:spPr>
          <a:xfrm>
            <a:off x="866775" y="4010025"/>
            <a:ext cx="2901999"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Robust Bash scripts immediately validate file integrity and safely move raw data into a structured staging environment.</a:t>
            </a:r>
            <a:endParaRPr/>
          </a:p>
        </p:txBody>
      </p:sp>
      <p:pic>
        <p:nvPicPr>
          <p:cNvPr descr="image.png" id="114" name="Google Shape;114;p15"/>
          <p:cNvPicPr preferRelativeResize="0"/>
          <p:nvPr/>
        </p:nvPicPr>
        <p:blipFill rotWithShape="1">
          <a:blip r:embed="rId8">
            <a:alphaModFix/>
          </a:blip>
          <a:srcRect b="0" l="0" r="0" t="0"/>
          <a:stretch/>
        </p:blipFill>
        <p:spPr>
          <a:xfrm>
            <a:off x="4645074" y="2162175"/>
            <a:ext cx="666750" cy="666750"/>
          </a:xfrm>
          <a:prstGeom prst="rect">
            <a:avLst/>
          </a:prstGeom>
          <a:noFill/>
          <a:ln>
            <a:noFill/>
          </a:ln>
        </p:spPr>
      </p:pic>
      <p:sp>
        <p:nvSpPr>
          <p:cNvPr id="115" name="Google Shape;115;p15"/>
          <p:cNvSpPr txBox="1"/>
          <p:nvPr/>
        </p:nvSpPr>
        <p:spPr>
          <a:xfrm>
            <a:off x="4645074" y="3067050"/>
            <a:ext cx="3047099"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59669"/>
                </a:solidFill>
                <a:latin typeface="Poppins SemiBold"/>
                <a:ea typeface="Poppins SemiBold"/>
                <a:cs typeface="Poppins SemiBold"/>
                <a:sym typeface="Poppins SemiBold"/>
              </a:rPr>
              <a:t>In-Memory Processing</a:t>
            </a:r>
            <a:endParaRPr/>
          </a:p>
        </p:txBody>
      </p:sp>
      <p:sp>
        <p:nvSpPr>
          <p:cNvPr id="116" name="Google Shape;116;p15"/>
          <p:cNvSpPr txBox="1"/>
          <p:nvPr/>
        </p:nvSpPr>
        <p:spPr>
          <a:xfrm>
            <a:off x="4645074" y="4010025"/>
            <a:ext cx="2901999"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Python and Pandas scripts extract the staged files to handle complex data joins and apply critical financial calculations entirely in-memory.</a:t>
            </a:r>
            <a:endParaRPr/>
          </a:p>
        </p:txBody>
      </p:sp>
      <p:pic>
        <p:nvPicPr>
          <p:cNvPr descr="image.png" id="117" name="Google Shape;117;p15"/>
          <p:cNvPicPr preferRelativeResize="0"/>
          <p:nvPr/>
        </p:nvPicPr>
        <p:blipFill rotWithShape="1">
          <a:blip r:embed="rId9">
            <a:alphaModFix/>
          </a:blip>
          <a:srcRect b="0" l="0" r="0" t="0"/>
          <a:stretch/>
        </p:blipFill>
        <p:spPr>
          <a:xfrm>
            <a:off x="8423374" y="2162175"/>
            <a:ext cx="666750" cy="666750"/>
          </a:xfrm>
          <a:prstGeom prst="rect">
            <a:avLst/>
          </a:prstGeom>
          <a:noFill/>
          <a:ln>
            <a:noFill/>
          </a:ln>
        </p:spPr>
      </p:pic>
      <p:sp>
        <p:nvSpPr>
          <p:cNvPr id="118" name="Google Shape;118;p15"/>
          <p:cNvSpPr txBox="1"/>
          <p:nvPr/>
        </p:nvSpPr>
        <p:spPr>
          <a:xfrm>
            <a:off x="8423374" y="3067050"/>
            <a:ext cx="3047099"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59669"/>
                </a:solidFill>
                <a:latin typeface="Poppins SemiBold"/>
                <a:ea typeface="Poppins SemiBold"/>
                <a:cs typeface="Poppins SemiBold"/>
                <a:sym typeface="Poppins SemiBold"/>
              </a:rPr>
              <a:t>Idempotent Warehouse</a:t>
            </a:r>
            <a:endParaRPr/>
          </a:p>
        </p:txBody>
      </p:sp>
      <p:sp>
        <p:nvSpPr>
          <p:cNvPr id="119" name="Google Shape;119;p15"/>
          <p:cNvSpPr txBox="1"/>
          <p:nvPr/>
        </p:nvSpPr>
        <p:spPr>
          <a:xfrm>
            <a:off x="8423374" y="4010025"/>
            <a:ext cx="2901999"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Clean data is loaded into a PostgreSQL Star Schema built specifically for OLAP queries, utilizing logic that prevents duplicate data.</a:t>
            </a:r>
            <a:endParaRPr/>
          </a:p>
        </p:txBody>
      </p:sp>
      <p:pic>
        <p:nvPicPr>
          <p:cNvPr descr="image.png" id="120" name="Google Shape;120;p15"/>
          <p:cNvPicPr preferRelativeResize="0"/>
          <p:nvPr/>
        </p:nvPicPr>
        <p:blipFill rotWithShape="1">
          <a:blip r:embed="rId10">
            <a:alphaModFix/>
          </a:blip>
          <a:srcRect b="0" l="0" r="0" t="0"/>
          <a:stretch/>
        </p:blipFill>
        <p:spPr>
          <a:xfrm>
            <a:off x="1047750" y="2343150"/>
            <a:ext cx="304800" cy="304800"/>
          </a:xfrm>
          <a:prstGeom prst="rect">
            <a:avLst/>
          </a:prstGeom>
          <a:noFill/>
          <a:ln>
            <a:noFill/>
          </a:ln>
        </p:spPr>
      </p:pic>
      <p:pic>
        <p:nvPicPr>
          <p:cNvPr descr="image.png" id="121" name="Google Shape;121;p15"/>
          <p:cNvPicPr preferRelativeResize="0"/>
          <p:nvPr/>
        </p:nvPicPr>
        <p:blipFill rotWithShape="1">
          <a:blip r:embed="rId11">
            <a:alphaModFix/>
          </a:blip>
          <a:srcRect b="0" l="0" r="0" t="0"/>
          <a:stretch/>
        </p:blipFill>
        <p:spPr>
          <a:xfrm>
            <a:off x="4845099" y="2343150"/>
            <a:ext cx="266700" cy="304800"/>
          </a:xfrm>
          <a:prstGeom prst="rect">
            <a:avLst/>
          </a:prstGeom>
          <a:noFill/>
          <a:ln>
            <a:noFill/>
          </a:ln>
        </p:spPr>
      </p:pic>
      <p:pic>
        <p:nvPicPr>
          <p:cNvPr descr="image.png" id="122" name="Google Shape;122;p15"/>
          <p:cNvPicPr preferRelativeResize="0"/>
          <p:nvPr/>
        </p:nvPicPr>
        <p:blipFill rotWithShape="1">
          <a:blip r:embed="rId12">
            <a:alphaModFix/>
          </a:blip>
          <a:srcRect b="0" l="0" r="0" t="0"/>
          <a:stretch/>
        </p:blipFill>
        <p:spPr>
          <a:xfrm>
            <a:off x="8604349" y="2343150"/>
            <a:ext cx="304800" cy="304800"/>
          </a:xfrm>
          <a:prstGeom prst="rect">
            <a:avLst/>
          </a:prstGeom>
          <a:noFill/>
          <a:ln>
            <a:noFill/>
          </a:ln>
        </p:spPr>
      </p:pic>
      <p:sp>
        <p:nvSpPr>
          <p:cNvPr id="123" name="Google Shape;123;p15"/>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59669"/>
                </a:solidFill>
                <a:latin typeface="Poppins SemiBold"/>
                <a:ea typeface="Poppins SemiBold"/>
                <a:cs typeface="Poppins SemiBold"/>
                <a:sym typeface="Poppins SemiBold"/>
              </a:rPr>
              <a:t>The Engineering Solution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pic>
        <p:nvPicPr>
          <p:cNvPr descr="image.png" id="128" name="Google Shape;128;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9" name="Google Shape;129;p16"/>
          <p:cNvSpPr txBox="1"/>
          <p:nvPr/>
        </p:nvSpPr>
        <p:spPr>
          <a:xfrm>
            <a:off x="762000" y="762000"/>
            <a:ext cx="5300662"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59669"/>
                </a:solidFill>
                <a:latin typeface="Poppins SemiBold"/>
                <a:ea typeface="Poppins SemiBold"/>
                <a:cs typeface="Poppins SemiBold"/>
                <a:sym typeface="Poppins SemiBold"/>
              </a:rPr>
              <a:t>System Architecture</a:t>
            </a:r>
            <a:endParaRPr/>
          </a:p>
        </p:txBody>
      </p:sp>
      <p:sp>
        <p:nvSpPr>
          <p:cNvPr id="130" name="Google Shape;130;p16"/>
          <p:cNvSpPr txBox="1"/>
          <p:nvPr/>
        </p:nvSpPr>
        <p:spPr>
          <a:xfrm>
            <a:off x="762000" y="2333625"/>
            <a:ext cx="50482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The system utilizes a modern, modular Docker-compose architecture separating orchestration, computation, and storage.</a:t>
            </a:r>
            <a:endParaRPr/>
          </a:p>
        </p:txBody>
      </p:sp>
      <p:sp>
        <p:nvSpPr>
          <p:cNvPr id="131" name="Google Shape;131;p16"/>
          <p:cNvSpPr txBox="1"/>
          <p:nvPr/>
        </p:nvSpPr>
        <p:spPr>
          <a:xfrm>
            <a:off x="762000" y="3390900"/>
            <a:ext cx="50482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Logical source systems simulate raw data generation, flowing into local Data Lake volumes. Apache Airflow acts as the master control plane.</a:t>
            </a:r>
            <a:endParaRPr/>
          </a:p>
        </p:txBody>
      </p:sp>
      <p:sp>
        <p:nvSpPr>
          <p:cNvPr id="132" name="Google Shape;132;p16"/>
          <p:cNvSpPr txBox="1"/>
          <p:nvPr/>
        </p:nvSpPr>
        <p:spPr>
          <a:xfrm>
            <a:off x="762000" y="4448175"/>
            <a:ext cx="50482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Airflow schedules and triggers Python ETL scripts that extract, transform, and load structured, clean data directly into the PostgreSQL Star Schema.</a:t>
            </a:r>
            <a:endParaRPr/>
          </a:p>
        </p:txBody>
      </p:sp>
      <p:pic>
        <p:nvPicPr>
          <p:cNvPr id="133" name="Google Shape;133;p16"/>
          <p:cNvPicPr preferRelativeResize="0"/>
          <p:nvPr/>
        </p:nvPicPr>
        <p:blipFill rotWithShape="1">
          <a:blip r:embed="rId4">
            <a:alphaModFix/>
          </a:blip>
          <a:srcRect b="11504" l="0" r="0" t="0"/>
          <a:stretch/>
        </p:blipFill>
        <p:spPr>
          <a:xfrm>
            <a:off x="6176550" y="2118475"/>
            <a:ext cx="6015452" cy="3540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pic>
        <p:nvPicPr>
          <p:cNvPr descr="image.png" id="138" name="Google Shape;138;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9" name="Google Shape;139;p17"/>
          <p:cNvPicPr preferRelativeResize="0"/>
          <p:nvPr/>
        </p:nvPicPr>
        <p:blipFill rotWithShape="1">
          <a:blip r:embed="rId4">
            <a:alphaModFix/>
          </a:blip>
          <a:srcRect b="0" l="0" r="0" t="0"/>
          <a:stretch/>
        </p:blipFill>
        <p:spPr>
          <a:xfrm>
            <a:off x="571500" y="2390775"/>
            <a:ext cx="5238750" cy="3057525"/>
          </a:xfrm>
          <a:prstGeom prst="rect">
            <a:avLst/>
          </a:prstGeom>
          <a:noFill/>
          <a:ln>
            <a:noFill/>
          </a:ln>
        </p:spPr>
      </p:pic>
      <p:pic>
        <p:nvPicPr>
          <p:cNvPr descr="image.png" id="140" name="Google Shape;140;p17"/>
          <p:cNvPicPr preferRelativeResize="0"/>
          <p:nvPr/>
        </p:nvPicPr>
        <p:blipFill rotWithShape="1">
          <a:blip r:embed="rId4">
            <a:alphaModFix/>
          </a:blip>
          <a:srcRect b="0" l="0" r="0" t="0"/>
          <a:stretch/>
        </p:blipFill>
        <p:spPr>
          <a:xfrm>
            <a:off x="6381750" y="2390775"/>
            <a:ext cx="5238750" cy="3057525"/>
          </a:xfrm>
          <a:prstGeom prst="rect">
            <a:avLst/>
          </a:prstGeom>
          <a:noFill/>
          <a:ln>
            <a:noFill/>
          </a:ln>
        </p:spPr>
      </p:pic>
      <p:sp>
        <p:nvSpPr>
          <p:cNvPr id="141" name="Google Shape;141;p17"/>
          <p:cNvSpPr txBox="1"/>
          <p:nvPr/>
        </p:nvSpPr>
        <p:spPr>
          <a:xfrm>
            <a:off x="962025" y="2809875"/>
            <a:ext cx="4680585"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59669"/>
                </a:solidFill>
                <a:latin typeface="Poppins SemiBold"/>
                <a:ea typeface="Poppins SemiBold"/>
                <a:cs typeface="Poppins SemiBold"/>
                <a:sym typeface="Poppins SemiBold"/>
              </a:rPr>
              <a:t>The Fact Table</a:t>
            </a:r>
            <a:endParaRPr/>
          </a:p>
        </p:txBody>
      </p:sp>
      <p:sp>
        <p:nvSpPr>
          <p:cNvPr id="142" name="Google Shape;142;p17"/>
          <p:cNvSpPr txBox="1"/>
          <p:nvPr/>
        </p:nvSpPr>
        <p:spPr>
          <a:xfrm>
            <a:off x="962025" y="3352800"/>
            <a:ext cx="4457700" cy="15430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The central fact_harvest_yield table contains the quantitative business metrics. It stores exact calculations for Yield KG, total Spoilage, gross Revenue, and net Profit ZAR. It uses surrogate keys to map back to descriptive dimensions.</a:t>
            </a:r>
            <a:endParaRPr/>
          </a:p>
        </p:txBody>
      </p:sp>
      <p:sp>
        <p:nvSpPr>
          <p:cNvPr id="143" name="Google Shape;143;p17"/>
          <p:cNvSpPr txBox="1"/>
          <p:nvPr/>
        </p:nvSpPr>
        <p:spPr>
          <a:xfrm>
            <a:off x="6772275" y="2809875"/>
            <a:ext cx="4680585"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59669"/>
                </a:solidFill>
                <a:latin typeface="Poppins SemiBold"/>
                <a:ea typeface="Poppins SemiBold"/>
                <a:cs typeface="Poppins SemiBold"/>
                <a:sym typeface="Poppins SemiBold"/>
              </a:rPr>
              <a:t>The Dimension Tables</a:t>
            </a:r>
            <a:endParaRPr/>
          </a:p>
        </p:txBody>
      </p:sp>
      <p:sp>
        <p:nvSpPr>
          <p:cNvPr id="144" name="Google Shape;144;p17"/>
          <p:cNvSpPr txBox="1"/>
          <p:nvPr/>
        </p:nvSpPr>
        <p:spPr>
          <a:xfrm>
            <a:off x="6772275" y="3352800"/>
            <a:ext cx="4457700" cy="1562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74151"/>
                </a:solidFill>
                <a:latin typeface="Lato"/>
                <a:ea typeface="Lato"/>
                <a:cs typeface="Lato"/>
                <a:sym typeface="Lato"/>
              </a:rPr>
              <a:t>Provides critical descriptive context via dim_crop, dim_farm, and dim_date hierarchies. Python logic dynamically resolves incoming business keys to their correct database surrogate keys strictly during the load phase.</a:t>
            </a:r>
            <a:endParaRPr/>
          </a:p>
        </p:txBody>
      </p:sp>
      <p:sp>
        <p:nvSpPr>
          <p:cNvPr id="145" name="Google Shape;145;p17"/>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59669"/>
                </a:solidFill>
                <a:latin typeface="Poppins SemiBold"/>
                <a:ea typeface="Poppins SemiBold"/>
                <a:cs typeface="Poppins SemiBold"/>
                <a:sym typeface="Poppins SemiBold"/>
              </a:rPr>
              <a:t>Data Modeling (The Star Schema)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1" name="Google Shape;151;p18"/>
          <p:cNvSpPr/>
          <p:nvPr/>
        </p:nvSpPr>
        <p:spPr>
          <a:xfrm>
            <a:off x="1333500" y="1245096"/>
            <a:ext cx="9525000" cy="1497210"/>
          </a:xfrm>
          <a:prstGeom prst="roundRect">
            <a:avLst>
              <a:gd fmla="val 7634" name="adj"/>
            </a:avLst>
          </a:prstGeom>
          <a:solidFill>
            <a:srgbClr val="F9FA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8"/>
          <p:cNvSpPr txBox="1"/>
          <p:nvPr/>
        </p:nvSpPr>
        <p:spPr>
          <a:xfrm>
            <a:off x="2000250" y="1483221"/>
            <a:ext cx="8572500" cy="1020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Idempotent Operations</a:t>
            </a:r>
            <a:r>
              <a:rPr b="0" i="0" lang="en-US" sz="1500" u="none" cap="none" strike="noStrike">
                <a:solidFill>
                  <a:srgbClr val="374151"/>
                </a:solidFill>
                <a:latin typeface="Lato"/>
                <a:ea typeface="Lato"/>
                <a:cs typeface="Lato"/>
                <a:sym typeface="Lato"/>
              </a:rPr>
              <a:t> Prevented duplicate records on DAG re-runs by implementing a robust DELETE-before-INSERT strategy in Pandas, targeting the specific `date_id`.</a:t>
            </a:r>
            <a:endParaRPr/>
          </a:p>
        </p:txBody>
      </p:sp>
      <p:sp>
        <p:nvSpPr>
          <p:cNvPr id="153" name="Google Shape;153;p18"/>
          <p:cNvSpPr/>
          <p:nvPr/>
        </p:nvSpPr>
        <p:spPr>
          <a:xfrm>
            <a:off x="1333500" y="1245096"/>
            <a:ext cx="38100" cy="149721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8"/>
          <p:cNvSpPr/>
          <p:nvPr/>
        </p:nvSpPr>
        <p:spPr>
          <a:xfrm>
            <a:off x="1333500" y="3028057"/>
            <a:ext cx="9525000" cy="1497210"/>
          </a:xfrm>
          <a:prstGeom prst="roundRect">
            <a:avLst>
              <a:gd fmla="val 7634" name="adj"/>
            </a:avLst>
          </a:prstGeom>
          <a:solidFill>
            <a:srgbClr val="F9FA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8"/>
          <p:cNvSpPr txBox="1"/>
          <p:nvPr/>
        </p:nvSpPr>
        <p:spPr>
          <a:xfrm>
            <a:off x="2000250" y="3266182"/>
            <a:ext cx="8572500" cy="1020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Cross-Platform Execution</a:t>
            </a:r>
            <a:r>
              <a:rPr b="0" i="0" lang="en-US" sz="1500" u="none" cap="none" strike="noStrike">
                <a:solidFill>
                  <a:srgbClr val="374151"/>
                </a:solidFill>
                <a:latin typeface="Lato"/>
                <a:ea typeface="Lato"/>
                <a:cs typeface="Lato"/>
                <a:sym typeface="Lato"/>
              </a:rPr>
              <a:t> Automated `sed` text cleaning was injected directly into the Airflow BashOperator to prevent hidden Windows CRLF line endings from breaking Linux scripts.</a:t>
            </a:r>
            <a:endParaRPr/>
          </a:p>
        </p:txBody>
      </p:sp>
      <p:sp>
        <p:nvSpPr>
          <p:cNvPr id="156" name="Google Shape;156;p18"/>
          <p:cNvSpPr/>
          <p:nvPr/>
        </p:nvSpPr>
        <p:spPr>
          <a:xfrm>
            <a:off x="1333500" y="3028057"/>
            <a:ext cx="38100" cy="149721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8"/>
          <p:cNvSpPr/>
          <p:nvPr/>
        </p:nvSpPr>
        <p:spPr>
          <a:xfrm>
            <a:off x="1333500" y="4811017"/>
            <a:ext cx="9525000" cy="1497210"/>
          </a:xfrm>
          <a:prstGeom prst="roundRect">
            <a:avLst>
              <a:gd fmla="val 7634" name="adj"/>
            </a:avLst>
          </a:prstGeom>
          <a:solidFill>
            <a:srgbClr val="F9FA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8"/>
          <p:cNvSpPr txBox="1"/>
          <p:nvPr/>
        </p:nvSpPr>
        <p:spPr>
          <a:xfrm>
            <a:off x="2000250" y="5049142"/>
            <a:ext cx="8572500" cy="1020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Race Condition Mitigation</a:t>
            </a:r>
            <a:r>
              <a:rPr b="0" i="0" lang="en-US" sz="1500" u="none" cap="none" strike="noStrike">
                <a:solidFill>
                  <a:srgbClr val="374151"/>
                </a:solidFill>
                <a:latin typeface="Lato"/>
                <a:ea typeface="Lato"/>
                <a:cs typeface="Lato"/>
                <a:sym typeface="Lato"/>
              </a:rPr>
              <a:t> Engineered strict Docker-compose dependencies to perfectly synchronize container boot sequences, preventing the UI from crashing before the DB initialized.</a:t>
            </a:r>
            <a:endParaRPr/>
          </a:p>
        </p:txBody>
      </p:sp>
      <p:sp>
        <p:nvSpPr>
          <p:cNvPr id="159" name="Google Shape;159;p18"/>
          <p:cNvSpPr/>
          <p:nvPr/>
        </p:nvSpPr>
        <p:spPr>
          <a:xfrm>
            <a:off x="1333500" y="4811017"/>
            <a:ext cx="38100" cy="149721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0" name="Google Shape;160;p18"/>
          <p:cNvPicPr preferRelativeResize="0"/>
          <p:nvPr/>
        </p:nvPicPr>
        <p:blipFill rotWithShape="1">
          <a:blip r:embed="rId4">
            <a:alphaModFix/>
          </a:blip>
          <a:srcRect b="0" l="0" r="0" t="0"/>
          <a:stretch/>
        </p:blipFill>
        <p:spPr>
          <a:xfrm>
            <a:off x="1562100" y="1855589"/>
            <a:ext cx="266700" cy="276225"/>
          </a:xfrm>
          <a:prstGeom prst="rect">
            <a:avLst/>
          </a:prstGeom>
          <a:noFill/>
          <a:ln>
            <a:noFill/>
          </a:ln>
        </p:spPr>
      </p:pic>
      <p:pic>
        <p:nvPicPr>
          <p:cNvPr descr="image.png" id="161" name="Google Shape;161;p18"/>
          <p:cNvPicPr preferRelativeResize="0"/>
          <p:nvPr/>
        </p:nvPicPr>
        <p:blipFill rotWithShape="1">
          <a:blip r:embed="rId5">
            <a:alphaModFix/>
          </a:blip>
          <a:srcRect b="0" l="0" r="0" t="0"/>
          <a:stretch/>
        </p:blipFill>
        <p:spPr>
          <a:xfrm>
            <a:off x="1562100" y="3638550"/>
            <a:ext cx="304800" cy="276225"/>
          </a:xfrm>
          <a:prstGeom prst="rect">
            <a:avLst/>
          </a:prstGeom>
          <a:noFill/>
          <a:ln>
            <a:noFill/>
          </a:ln>
        </p:spPr>
      </p:pic>
      <p:pic>
        <p:nvPicPr>
          <p:cNvPr descr="image.png" id="162" name="Google Shape;162;p18"/>
          <p:cNvPicPr preferRelativeResize="0"/>
          <p:nvPr/>
        </p:nvPicPr>
        <p:blipFill rotWithShape="1">
          <a:blip r:embed="rId6">
            <a:alphaModFix/>
          </a:blip>
          <a:srcRect b="0" l="0" r="0" t="0"/>
          <a:stretch/>
        </p:blipFill>
        <p:spPr>
          <a:xfrm>
            <a:off x="1562100" y="5421510"/>
            <a:ext cx="238125" cy="276225"/>
          </a:xfrm>
          <a:prstGeom prst="rect">
            <a:avLst/>
          </a:prstGeom>
          <a:noFill/>
          <a:ln>
            <a:noFill/>
          </a:ln>
        </p:spPr>
      </p:pic>
      <p:sp>
        <p:nvSpPr>
          <p:cNvPr id="163" name="Google Shape;163;p18"/>
          <p:cNvSpPr txBox="1"/>
          <p:nvPr/>
        </p:nvSpPr>
        <p:spPr>
          <a:xfrm>
            <a:off x="571500" y="264021"/>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59669"/>
                </a:solidFill>
                <a:latin typeface="Poppins SemiBold"/>
                <a:ea typeface="Poppins SemiBold"/>
                <a:cs typeface="Poppins SemiBold"/>
                <a:sym typeface="Poppins SemiBold"/>
              </a:rPr>
              <a:t>Key Technical Challenges Overcome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pic>
        <p:nvPicPr>
          <p:cNvPr descr="image.png" id="168" name="Google Shape;168;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9" name="Google Shape;169;p19"/>
          <p:cNvPicPr preferRelativeResize="0"/>
          <p:nvPr/>
        </p:nvPicPr>
        <p:blipFill rotWithShape="1">
          <a:blip r:embed="rId4">
            <a:alphaModFix/>
          </a:blip>
          <a:srcRect b="0" l="0" r="0" t="0"/>
          <a:stretch/>
        </p:blipFill>
        <p:spPr>
          <a:xfrm>
            <a:off x="6381750" y="2014537"/>
            <a:ext cx="5238750" cy="3810000"/>
          </a:xfrm>
          <a:prstGeom prst="rect">
            <a:avLst/>
          </a:prstGeom>
          <a:noFill/>
          <a:ln>
            <a:noFill/>
          </a:ln>
        </p:spPr>
      </p:pic>
      <p:sp>
        <p:nvSpPr>
          <p:cNvPr id="170" name="Google Shape;170;p19"/>
          <p:cNvSpPr txBox="1"/>
          <p:nvPr/>
        </p:nvSpPr>
        <p:spPr>
          <a:xfrm>
            <a:off x="857250" y="2343150"/>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Unified Intelligence:</a:t>
            </a:r>
            <a:r>
              <a:rPr b="0" i="0" lang="en-US" sz="1500" u="none" cap="none" strike="noStrike">
                <a:solidFill>
                  <a:srgbClr val="374151"/>
                </a:solidFill>
                <a:latin typeface="Lato"/>
                <a:ea typeface="Lato"/>
                <a:cs typeface="Lato"/>
                <a:sym typeface="Lato"/>
              </a:rPr>
              <a:t> Data is fully unified, cleaned, and enriched with complex financial logic.</a:t>
            </a:r>
            <a:endParaRPr/>
          </a:p>
        </p:txBody>
      </p:sp>
      <p:sp>
        <p:nvSpPr>
          <p:cNvPr id="171" name="Google Shape;171;p19"/>
          <p:cNvSpPr txBox="1"/>
          <p:nvPr/>
        </p:nvSpPr>
        <p:spPr>
          <a:xfrm>
            <a:off x="857250" y="3190875"/>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Single Source of Truth:</a:t>
            </a:r>
            <a:r>
              <a:rPr b="0" i="0" lang="en-US" sz="1500" u="none" cap="none" strike="noStrike">
                <a:solidFill>
                  <a:srgbClr val="374151"/>
                </a:solidFill>
                <a:latin typeface="Lato"/>
                <a:ea typeface="Lato"/>
                <a:cs typeface="Lato"/>
                <a:sym typeface="Lato"/>
              </a:rPr>
              <a:t> The PostgreSQL warehouse creates a reliable, centralized location for all agricultural profitability metrics.</a:t>
            </a:r>
            <a:endParaRPr/>
          </a:p>
        </p:txBody>
      </p:sp>
      <p:sp>
        <p:nvSpPr>
          <p:cNvPr id="172" name="Google Shape;172;p19"/>
          <p:cNvSpPr txBox="1"/>
          <p:nvPr/>
        </p:nvSpPr>
        <p:spPr>
          <a:xfrm>
            <a:off x="857250" y="4343400"/>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F2937"/>
                </a:solidFill>
                <a:latin typeface="Lato"/>
                <a:ea typeface="Lato"/>
                <a:cs typeface="Lato"/>
                <a:sym typeface="Lato"/>
              </a:rPr>
              <a:t>BI Ready:</a:t>
            </a:r>
            <a:r>
              <a:rPr b="0" i="0" lang="en-US" sz="1500" u="none" cap="none" strike="noStrike">
                <a:solidFill>
                  <a:srgbClr val="374151"/>
                </a:solidFill>
                <a:latin typeface="Lato"/>
                <a:ea typeface="Lato"/>
                <a:cs typeface="Lato"/>
                <a:sym typeface="Lato"/>
              </a:rPr>
              <a:t> The resulting Star Schema is 100% ready for direct connection to downstream analytics tools like Power BI or Tableau.</a:t>
            </a:r>
            <a:endParaRPr/>
          </a:p>
        </p:txBody>
      </p:sp>
      <p:pic>
        <p:nvPicPr>
          <p:cNvPr descr="image.png" id="173" name="Google Shape;173;p19"/>
          <p:cNvPicPr preferRelativeResize="0"/>
          <p:nvPr/>
        </p:nvPicPr>
        <p:blipFill rotWithShape="1">
          <a:blip r:embed="rId5">
            <a:alphaModFix/>
          </a:blip>
          <a:srcRect b="0" l="0" r="0" t="0"/>
          <a:stretch/>
        </p:blipFill>
        <p:spPr>
          <a:xfrm>
            <a:off x="6381750" y="2014537"/>
            <a:ext cx="5238750" cy="3810000"/>
          </a:xfrm>
          <a:prstGeom prst="rect">
            <a:avLst/>
          </a:prstGeom>
          <a:noFill/>
          <a:ln>
            <a:noFill/>
          </a:ln>
        </p:spPr>
      </p:pic>
      <p:sp>
        <p:nvSpPr>
          <p:cNvPr id="174" name="Google Shape;174;p19"/>
          <p:cNvSpPr txBox="1"/>
          <p:nvPr/>
        </p:nvSpPr>
        <p:spPr>
          <a:xfrm>
            <a:off x="571500" y="2400300"/>
            <a:ext cx="76200" cy="20955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0B981"/>
                </a:solidFill>
                <a:latin typeface="Lato"/>
                <a:ea typeface="Lato"/>
                <a:cs typeface="Lato"/>
                <a:sym typeface="Lato"/>
              </a:rPr>
              <a:t>■</a:t>
            </a:r>
            <a:endParaRPr/>
          </a:p>
        </p:txBody>
      </p:sp>
      <p:sp>
        <p:nvSpPr>
          <p:cNvPr id="175" name="Google Shape;175;p19"/>
          <p:cNvSpPr txBox="1"/>
          <p:nvPr/>
        </p:nvSpPr>
        <p:spPr>
          <a:xfrm>
            <a:off x="571500" y="3248025"/>
            <a:ext cx="76200" cy="20955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0B981"/>
                </a:solidFill>
                <a:latin typeface="Lato"/>
                <a:ea typeface="Lato"/>
                <a:cs typeface="Lato"/>
                <a:sym typeface="Lato"/>
              </a:rPr>
              <a:t>■</a:t>
            </a:r>
            <a:endParaRPr/>
          </a:p>
        </p:txBody>
      </p:sp>
      <p:sp>
        <p:nvSpPr>
          <p:cNvPr id="176" name="Google Shape;176;p19"/>
          <p:cNvSpPr txBox="1"/>
          <p:nvPr/>
        </p:nvSpPr>
        <p:spPr>
          <a:xfrm>
            <a:off x="571500" y="4400550"/>
            <a:ext cx="76200" cy="20955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10B981"/>
                </a:solidFill>
                <a:latin typeface="Lato"/>
                <a:ea typeface="Lato"/>
                <a:cs typeface="Lato"/>
                <a:sym typeface="Lato"/>
              </a:rPr>
              <a:t>■</a:t>
            </a:r>
            <a:endParaRPr/>
          </a:p>
        </p:txBody>
      </p:sp>
      <p:sp>
        <p:nvSpPr>
          <p:cNvPr id="177" name="Google Shape;177;p19"/>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59669"/>
                </a:solidFill>
                <a:latin typeface="Poppins SemiBold"/>
                <a:ea typeface="Poppins SemiBold"/>
                <a:cs typeface="Poppins SemiBold"/>
                <a:sym typeface="Poppins SemiBold"/>
              </a:rPr>
              <a:t>The Final Output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pic>
        <p:nvPicPr>
          <p:cNvPr descr="image.png" id="182" name="Google Shape;182;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3" name="Google Shape;183;p20"/>
          <p:cNvSpPr txBox="1"/>
          <p:nvPr/>
        </p:nvSpPr>
        <p:spPr>
          <a:xfrm>
            <a:off x="295275" y="1972567"/>
            <a:ext cx="11601450"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059669"/>
                </a:solidFill>
                <a:latin typeface="Poppins"/>
                <a:ea typeface="Poppins"/>
                <a:cs typeface="Poppins"/>
                <a:sym typeface="Poppins"/>
              </a:rPr>
              <a:t>Thank You</a:t>
            </a:r>
            <a:endParaRPr/>
          </a:p>
        </p:txBody>
      </p:sp>
      <p:sp>
        <p:nvSpPr>
          <p:cNvPr id="184" name="Google Shape;184;p20"/>
          <p:cNvSpPr txBox="1"/>
          <p:nvPr/>
        </p:nvSpPr>
        <p:spPr>
          <a:xfrm>
            <a:off x="571500" y="3306067"/>
            <a:ext cx="1104900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374151"/>
                </a:solidFill>
                <a:latin typeface="Lato"/>
                <a:ea typeface="Lato"/>
                <a:cs typeface="Lato"/>
                <a:sym typeface="Lato"/>
              </a:rPr>
              <a:t>Kabelo Modimoeng | Data Engineer</a:t>
            </a:r>
            <a:endParaRPr/>
          </a:p>
        </p:txBody>
      </p:sp>
      <p:pic>
        <p:nvPicPr>
          <p:cNvPr descr="image.png" id="185" name="Google Shape;185;p20"/>
          <p:cNvPicPr preferRelativeResize="0"/>
          <p:nvPr/>
        </p:nvPicPr>
        <p:blipFill rotWithShape="1">
          <a:blip r:embed="rId4">
            <a:alphaModFix/>
          </a:blip>
          <a:srcRect b="0" l="0" r="0" t="0"/>
          <a:stretch/>
        </p:blipFill>
        <p:spPr>
          <a:xfrm>
            <a:off x="3357562" y="4485233"/>
            <a:ext cx="180975" cy="190500"/>
          </a:xfrm>
          <a:prstGeom prst="rect">
            <a:avLst/>
          </a:prstGeom>
          <a:noFill/>
          <a:ln>
            <a:noFill/>
          </a:ln>
        </p:spPr>
      </p:pic>
      <p:pic>
        <p:nvPicPr>
          <p:cNvPr descr="image.png" id="186" name="Google Shape;186;p20"/>
          <p:cNvPicPr preferRelativeResize="0"/>
          <p:nvPr/>
        </p:nvPicPr>
        <p:blipFill rotWithShape="1">
          <a:blip r:embed="rId5">
            <a:alphaModFix/>
          </a:blip>
          <a:srcRect b="0" l="0" r="0" t="0"/>
          <a:stretch/>
        </p:blipFill>
        <p:spPr>
          <a:xfrm>
            <a:off x="5748337" y="4485233"/>
            <a:ext cx="171450" cy="190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pic>
        <p:nvPicPr>
          <p:cNvPr descr="image.png" id="191" name="Google Shape;191;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2" name="Google Shape;192;p21"/>
          <p:cNvSpPr/>
          <p:nvPr/>
        </p:nvSpPr>
        <p:spPr>
          <a:xfrm>
            <a:off x="642937" y="2747069"/>
            <a:ext cx="10906125"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21"/>
          <p:cNvSpPr/>
          <p:nvPr/>
        </p:nvSpPr>
        <p:spPr>
          <a:xfrm>
            <a:off x="642937" y="3522315"/>
            <a:ext cx="1090612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1"/>
          <p:cNvSpPr/>
          <p:nvPr/>
        </p:nvSpPr>
        <p:spPr>
          <a:xfrm>
            <a:off x="642937" y="3522315"/>
            <a:ext cx="1090612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21"/>
          <p:cNvSpPr/>
          <p:nvPr/>
        </p:nvSpPr>
        <p:spPr>
          <a:xfrm>
            <a:off x="642937" y="4307085"/>
            <a:ext cx="1090612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1"/>
          <p:cNvSpPr/>
          <p:nvPr/>
        </p:nvSpPr>
        <p:spPr>
          <a:xfrm>
            <a:off x="642937" y="4307085"/>
            <a:ext cx="1090612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7" name="Google Shape;197;p21"/>
          <p:cNvPicPr preferRelativeResize="0"/>
          <p:nvPr/>
        </p:nvPicPr>
        <p:blipFill rotWithShape="1">
          <a:blip r:embed="rId4">
            <a:alphaModFix/>
          </a:blip>
          <a:srcRect b="0" l="0" r="0" t="0"/>
          <a:stretch/>
        </p:blipFill>
        <p:spPr>
          <a:xfrm>
            <a:off x="642937" y="2896492"/>
            <a:ext cx="857250" cy="476250"/>
          </a:xfrm>
          <a:prstGeom prst="rect">
            <a:avLst/>
          </a:prstGeom>
          <a:noFill/>
          <a:ln>
            <a:noFill/>
          </a:ln>
        </p:spPr>
      </p:pic>
      <p:sp>
        <p:nvSpPr>
          <p:cNvPr id="198" name="Google Shape;198;p21"/>
          <p:cNvSpPr txBox="1"/>
          <p:nvPr/>
        </p:nvSpPr>
        <p:spPr>
          <a:xfrm>
            <a:off x="1738312" y="2889944"/>
            <a:ext cx="9810750"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Lato"/>
                <a:ea typeface="Lato"/>
                <a:cs typeface="Lato"/>
                <a:sym typeface="Lato"/>
              </a:rPr>
              <a:t>https://png.pngtree.com/thumb_back/fh260/background/20241130/pngtree-modern-agricultural-tractor-spraying-a-green-field-with-pesticides-under-clear-image_16678460.jpg</a:t>
            </a:r>
            <a:endParaRPr/>
          </a:p>
        </p:txBody>
      </p:sp>
      <p:sp>
        <p:nvSpPr>
          <p:cNvPr id="199" name="Google Shape;199;p21"/>
          <p:cNvSpPr txBox="1"/>
          <p:nvPr/>
        </p:nvSpPr>
        <p:spPr>
          <a:xfrm>
            <a:off x="1738312" y="3135659"/>
            <a:ext cx="98107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pngtree.com</a:t>
            </a:r>
            <a:endParaRPr/>
          </a:p>
        </p:txBody>
      </p:sp>
      <p:pic>
        <p:nvPicPr>
          <p:cNvPr descr="image.png" id="200" name="Google Shape;200;p21"/>
          <p:cNvPicPr preferRelativeResize="0"/>
          <p:nvPr/>
        </p:nvPicPr>
        <p:blipFill rotWithShape="1">
          <a:blip r:embed="rId5">
            <a:alphaModFix/>
          </a:blip>
          <a:srcRect b="0" l="0" r="0" t="0"/>
          <a:stretch/>
        </p:blipFill>
        <p:spPr>
          <a:xfrm>
            <a:off x="642937" y="4466034"/>
            <a:ext cx="857250" cy="476250"/>
          </a:xfrm>
          <a:prstGeom prst="rect">
            <a:avLst/>
          </a:prstGeom>
          <a:noFill/>
          <a:ln>
            <a:noFill/>
          </a:ln>
        </p:spPr>
      </p:pic>
      <p:sp>
        <p:nvSpPr>
          <p:cNvPr id="201" name="Google Shape;201;p21"/>
          <p:cNvSpPr txBox="1"/>
          <p:nvPr/>
        </p:nvSpPr>
        <p:spPr>
          <a:xfrm>
            <a:off x="1738312" y="4459485"/>
            <a:ext cx="9810750"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74151"/>
                </a:solidFill>
                <a:latin typeface="Lato"/>
                <a:ea typeface="Lato"/>
                <a:cs typeface="Lato"/>
                <a:sym typeface="Lato"/>
              </a:rPr>
              <a:t>https://png.pngtree.com/png-clipart/20250207/original/pngtree-modern-data-visualization-screen-for-analytics-dashboard-png-image_20373725.png</a:t>
            </a:r>
            <a:endParaRPr/>
          </a:p>
        </p:txBody>
      </p:sp>
      <p:sp>
        <p:nvSpPr>
          <p:cNvPr id="202" name="Google Shape;202;p21"/>
          <p:cNvSpPr txBox="1"/>
          <p:nvPr/>
        </p:nvSpPr>
        <p:spPr>
          <a:xfrm>
            <a:off x="1738312" y="4705201"/>
            <a:ext cx="98107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74151"/>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pngtree.com</a:t>
            </a:r>
            <a:endParaRPr/>
          </a:p>
        </p:txBody>
      </p:sp>
      <p:sp>
        <p:nvSpPr>
          <p:cNvPr id="203" name="Google Shape;203;p21"/>
          <p:cNvSpPr txBox="1"/>
          <p:nvPr/>
        </p:nvSpPr>
        <p:spPr>
          <a:xfrm>
            <a:off x="571500" y="57150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059669"/>
                </a:solidFill>
                <a:latin typeface="Poppins SemiBold"/>
                <a:ea typeface="Poppins SemiBold"/>
                <a:cs typeface="Poppins SemiBold"/>
                <a:sym typeface="Poppins SemiBold"/>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